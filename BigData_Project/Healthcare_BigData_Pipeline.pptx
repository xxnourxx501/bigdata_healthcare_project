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62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4816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2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5752" y="-1463040"/>
            <a:ext cx="4754880" cy="4754880"/>
          </a:xfrm>
          <a:prstGeom prst="ellipse">
            <a:avLst/>
          </a:prstGeom>
          <a:solidFill>
            <a:srgbClr val="4E3A6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480560"/>
            <a:ext cx="3657600" cy="3657600"/>
          </a:xfrm>
          <a:prstGeom prst="ellipse">
            <a:avLst/>
          </a:prstGeom>
          <a:solidFill>
            <a:srgbClr val="8A6FB5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822960"/>
            <a:ext cx="822960" cy="822960"/>
          </a:xfrm>
          <a:prstGeom prst="ellipse">
            <a:avLst/>
          </a:prstGeom>
          <a:solidFill>
            <a:srgbClr val="D9CFF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822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 smtClean="0">
                <a:solidFill>
                  <a:srgbClr val="2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 smtClean="0">
                <a:solidFill>
                  <a:srgbClr val="D9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</a:t>
            </a:r>
            <a:r>
              <a:rPr lang="en-US" sz="1300" b="1" kern="0" spc="300" dirty="0">
                <a:solidFill>
                  <a:srgbClr val="D9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PROJECT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Big Data &amp; Patient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Pipeline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822960" y="4434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9B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Big Data Processing &amp; Power BI Visualization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5166360"/>
            <a:ext cx="2011680" cy="0"/>
          </a:xfrm>
          <a:prstGeom prst="line">
            <a:avLst/>
          </a:prstGeom>
          <a:noFill/>
          <a:ln w="25400">
            <a:solidFill>
              <a:srgbClr val="8A6F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394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9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5669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</a:t>
            </a:r>
            <a:r>
              <a:rPr lang="en-US" sz="15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Nour</a:t>
            </a:r>
            <a:r>
              <a:rPr lang="en-US" sz="15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Ali Mohamed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 &amp; Project Idea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hospital records to real, actionable insight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A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big data pipeline that simulates and analyzes hospital admissions, patient vital conditions, medical treatments, insurance providers, and billing amounts — built on real-world healthcare datasets with 55,500+ records.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A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6309360" cy="1463040"/>
          </a:xfrm>
          <a:prstGeom prst="roundRect">
            <a:avLst>
              <a:gd name="adj" fmla="val 6250"/>
            </a:avLst>
          </a:prstGeom>
          <a:solidFill>
            <a:srgbClr val="4E3A6E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93192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raw hospital data into actionable insights and interactive dashboards to improve operational and medical visibility.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0" y="1691640"/>
            <a:ext cx="4343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DEF2"/>
            </a:solidFill>
            <a:prstDash val="solid"/>
          </a:ln>
          <a:effectLst>
            <a:outerShdw blurRad="101600" dist="38100" dir="5400000" algn="bl" rotWithShape="0">
              <a:srgbClr val="3A2E55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589520" y="1801368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E3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55,500+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589520" y="244144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 Processed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0" y="3108960"/>
            <a:ext cx="4343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DEF2"/>
            </a:solidFill>
            <a:prstDash val="solid"/>
          </a:ln>
          <a:effectLst>
            <a:outerShdw blurRad="101600" dist="38100" dir="5400000" algn="bl" rotWithShape="0">
              <a:srgbClr val="3A2E55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589520" y="3218688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E3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589520" y="385876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Stages, Kafka to Power BI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0" y="4526280"/>
            <a:ext cx="4343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4DEF2"/>
            </a:solidFill>
            <a:prstDash val="solid"/>
          </a:ln>
          <a:effectLst>
            <a:outerShdw blurRad="101600" dist="38100" dir="5400000" algn="bl" rotWithShape="0">
              <a:srgbClr val="3A2E55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589520" y="4636008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ar-EG" sz="2800" b="1" dirty="0" smtClean="0">
                <a:solidFill>
                  <a:srgbClr val="4E3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589520" y="527608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Technologies Integrated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Big Data &amp; Patient Analytics Pipeline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9615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4339" y="83878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powering every stage of the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983428" y="1473591"/>
            <a:ext cx="258775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DEF2"/>
            </a:solidFill>
            <a:prstDash val="solid"/>
          </a:ln>
          <a:effectLst>
            <a:outerShdw blurRad="88900" dist="25400" dir="5400000" algn="bl" rotWithShape="0">
              <a:srgbClr val="3A2E5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48120" y="1711335"/>
            <a:ext cx="658368" cy="658368"/>
          </a:xfrm>
          <a:prstGeom prst="ellipse">
            <a:avLst/>
          </a:prstGeom>
          <a:solidFill>
            <a:srgbClr val="4E3A6E"/>
          </a:solidFill>
          <a:ln/>
        </p:spPr>
      </p:sp>
      <p:sp>
        <p:nvSpPr>
          <p:cNvPr id="6" name="Text 4"/>
          <p:cNvSpPr/>
          <p:nvPr/>
        </p:nvSpPr>
        <p:spPr>
          <a:xfrm>
            <a:off x="2948120" y="1711335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120588" y="2525151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148020" y="2918343"/>
            <a:ext cx="2258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containerization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48765" y="1464094"/>
            <a:ext cx="258775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DEF2"/>
            </a:solidFill>
            <a:prstDash val="solid"/>
          </a:ln>
          <a:effectLst>
            <a:outerShdw blurRad="88900" dist="25400" dir="5400000" algn="bl" rotWithShape="0">
              <a:srgbClr val="3A2E55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59880" y="1652132"/>
            <a:ext cx="658368" cy="658368"/>
          </a:xfrm>
          <a:prstGeom prst="ellipse">
            <a:avLst/>
          </a:prstGeom>
          <a:solidFill>
            <a:srgbClr val="4E3A6E"/>
          </a:solidFill>
          <a:ln/>
        </p:spPr>
      </p:sp>
      <p:sp>
        <p:nvSpPr>
          <p:cNvPr id="21" name="Text 19"/>
          <p:cNvSpPr/>
          <p:nvPr/>
        </p:nvSpPr>
        <p:spPr>
          <a:xfrm>
            <a:off x="6646048" y="1662683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832348" y="2465948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 smtClean="0">
                <a:solidFill>
                  <a:srgbClr val="2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859780" y="2859140"/>
            <a:ext cx="2258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storage &amp; resource management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08304" y="4067439"/>
            <a:ext cx="258775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DEF2"/>
            </a:solidFill>
            <a:prstDash val="solid"/>
          </a:ln>
          <a:effectLst>
            <a:outerShdw blurRad="88900" dist="25400" dir="5400000" algn="bl" rotWithShape="0">
              <a:srgbClr val="3A2E55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872996" y="4305183"/>
            <a:ext cx="658368" cy="658368"/>
          </a:xfrm>
          <a:prstGeom prst="ellipse">
            <a:avLst/>
          </a:prstGeom>
          <a:solidFill>
            <a:srgbClr val="4E3A6E"/>
          </a:solidFill>
          <a:ln/>
        </p:spPr>
      </p:sp>
      <p:sp>
        <p:nvSpPr>
          <p:cNvPr id="26" name="Text 24"/>
          <p:cNvSpPr/>
          <p:nvPr/>
        </p:nvSpPr>
        <p:spPr>
          <a:xfrm>
            <a:off x="1872996" y="4305183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45464" y="5118999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 smtClean="0">
                <a:solidFill>
                  <a:srgbClr val="2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072896" y="5512191"/>
            <a:ext cx="2258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processing, cleaning &amp; transformation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949772" y="4067439"/>
            <a:ext cx="258775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DEF2"/>
            </a:solidFill>
            <a:prstDash val="solid"/>
          </a:ln>
          <a:effectLst>
            <a:outerShdw blurRad="88900" dist="25400" dir="5400000" algn="bl" rotWithShape="0">
              <a:srgbClr val="3A2E55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914464" y="4324995"/>
            <a:ext cx="658368" cy="658368"/>
          </a:xfrm>
          <a:prstGeom prst="ellipse">
            <a:avLst/>
          </a:prstGeom>
          <a:solidFill>
            <a:srgbClr val="4E3A6E"/>
          </a:solidFill>
          <a:ln/>
        </p:spPr>
      </p:sp>
      <p:sp>
        <p:nvSpPr>
          <p:cNvPr id="36" name="Text 34"/>
          <p:cNvSpPr/>
          <p:nvPr/>
        </p:nvSpPr>
        <p:spPr>
          <a:xfrm>
            <a:off x="8932049" y="4296039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104517" y="5027559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8159381" y="5512191"/>
            <a:ext cx="2258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data visualization &amp; dashboarding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62465" y="6109599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Big Data &amp; Patient Analytics Pipeline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144960" y="62484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1" name="Shape 17"/>
          <p:cNvSpPr/>
          <p:nvPr/>
        </p:nvSpPr>
        <p:spPr>
          <a:xfrm>
            <a:off x="4474750" y="4067439"/>
            <a:ext cx="258775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DEF2"/>
            </a:solidFill>
            <a:prstDash val="solid"/>
          </a:ln>
          <a:effectLst>
            <a:outerShdw blurRad="88900" dist="25400" dir="5400000" algn="bl" rotWithShape="0">
              <a:srgbClr val="3A2E55">
                <a:alpha val="10000"/>
              </a:srgbClr>
            </a:outerShdw>
          </a:effectLst>
        </p:spPr>
      </p:sp>
      <p:sp>
        <p:nvSpPr>
          <p:cNvPr id="42" name="Shape 18"/>
          <p:cNvSpPr/>
          <p:nvPr/>
        </p:nvSpPr>
        <p:spPr>
          <a:xfrm>
            <a:off x="5582932" y="4332732"/>
            <a:ext cx="658368" cy="658368"/>
          </a:xfrm>
          <a:prstGeom prst="ellipse">
            <a:avLst/>
          </a:prstGeom>
          <a:solidFill>
            <a:srgbClr val="4E3A6E"/>
          </a:solidFill>
          <a:ln/>
        </p:spPr>
      </p:sp>
      <p:sp>
        <p:nvSpPr>
          <p:cNvPr id="43" name="Text 19"/>
          <p:cNvSpPr/>
          <p:nvPr/>
        </p:nvSpPr>
        <p:spPr>
          <a:xfrm>
            <a:off x="5582932" y="432851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500" dirty="0"/>
          </a:p>
        </p:txBody>
      </p:sp>
      <p:sp>
        <p:nvSpPr>
          <p:cNvPr id="44" name="Text 20"/>
          <p:cNvSpPr/>
          <p:nvPr/>
        </p:nvSpPr>
        <p:spPr>
          <a:xfrm>
            <a:off x="4749539" y="5118999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 smtClean="0">
                <a:solidFill>
                  <a:srgbClr val="2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50" dirty="0"/>
          </a:p>
        </p:txBody>
      </p:sp>
      <p:sp>
        <p:nvSpPr>
          <p:cNvPr id="45" name="Text 21"/>
          <p:cNvSpPr/>
          <p:nvPr/>
        </p:nvSpPr>
        <p:spPr>
          <a:xfrm>
            <a:off x="6012180" y="3011540"/>
            <a:ext cx="2258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 &amp; Data Pipeline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raw hospital data becomes an interactive dashboard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011680" y="2537460"/>
            <a:ext cx="8229600" cy="0"/>
          </a:xfrm>
          <a:prstGeom prst="line">
            <a:avLst/>
          </a:prstGeom>
          <a:noFill/>
          <a:ln w="38100">
            <a:solidFill>
              <a:srgbClr val="D9CF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17420" y="2148840"/>
            <a:ext cx="777240" cy="777240"/>
          </a:xfrm>
          <a:prstGeom prst="ellipse">
            <a:avLst/>
          </a:prstGeom>
          <a:solidFill>
            <a:srgbClr val="4E3A6E"/>
          </a:solidFill>
          <a:ln/>
        </p:spPr>
      </p:sp>
      <p:sp>
        <p:nvSpPr>
          <p:cNvPr id="6" name="Text 4"/>
          <p:cNvSpPr/>
          <p:nvPr/>
        </p:nvSpPr>
        <p:spPr>
          <a:xfrm>
            <a:off x="2217420" y="2148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23060" y="318211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77924" y="3886200"/>
            <a:ext cx="18562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53128" y="2148840"/>
            <a:ext cx="777240" cy="777240"/>
          </a:xfrm>
          <a:prstGeom prst="ellipse">
            <a:avLst/>
          </a:prstGeom>
          <a:solidFill>
            <a:srgbClr val="4E3A6E"/>
          </a:solidFill>
          <a:ln/>
        </p:spPr>
      </p:sp>
      <p:sp>
        <p:nvSpPr>
          <p:cNvPr id="10" name="Text 8"/>
          <p:cNvSpPr/>
          <p:nvPr/>
        </p:nvSpPr>
        <p:spPr>
          <a:xfrm>
            <a:off x="4453128" y="2148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858768" y="318211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Resource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13632" y="3886200"/>
            <a:ext cx="18562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raw logs in HDFS, managed by Zookeeper &amp; YARN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688836" y="2148840"/>
            <a:ext cx="777240" cy="777240"/>
          </a:xfrm>
          <a:prstGeom prst="ellipse">
            <a:avLst/>
          </a:prstGeom>
          <a:solidFill>
            <a:srgbClr val="4E3A6E"/>
          </a:solidFill>
          <a:ln/>
        </p:spPr>
      </p:sp>
      <p:sp>
        <p:nvSpPr>
          <p:cNvPr id="14" name="Text 12"/>
          <p:cNvSpPr/>
          <p:nvPr/>
        </p:nvSpPr>
        <p:spPr>
          <a:xfrm>
            <a:off x="6688836" y="2148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094476" y="318211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Engine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49340" y="3886200"/>
            <a:ext cx="18562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aggregating data using Spark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24544" y="2148840"/>
            <a:ext cx="777240" cy="777240"/>
          </a:xfrm>
          <a:prstGeom prst="ellipse">
            <a:avLst/>
          </a:prstGeom>
          <a:solidFill>
            <a:srgbClr val="4E3A6E"/>
          </a:solidFill>
          <a:ln/>
        </p:spPr>
      </p:sp>
      <p:sp>
        <p:nvSpPr>
          <p:cNvPr id="18" name="Text 16"/>
          <p:cNvSpPr/>
          <p:nvPr/>
        </p:nvSpPr>
        <p:spPr>
          <a:xfrm>
            <a:off x="8924544" y="2148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194292" y="41148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85048" y="3886200"/>
            <a:ext cx="18562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177272" y="2148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385048" y="3154681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94776" y="3886200"/>
            <a:ext cx="18562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Hive to Power BI for KPIs &amp; trends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Big Data &amp; Patient Analytics Pipeline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Rectangle 26"/>
          <p:cNvSpPr/>
          <p:nvPr/>
        </p:nvSpPr>
        <p:spPr>
          <a:xfrm>
            <a:off x="2073822" y="4331325"/>
            <a:ext cx="1322798" cy="481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CSV dataset </a:t>
            </a:r>
            <a:endParaRPr lang="ar-EG" sz="1050" dirty="0" smtClean="0">
              <a:solidFill>
                <a:srgbClr val="6B647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>
              <a:lnSpc>
                <a:spcPct val="125000"/>
              </a:lnSpc>
            </a:pPr>
            <a:r>
              <a:rPr lang="en-US" sz="1050" dirty="0" smtClean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</a:t>
            </a: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Dashboard Insights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of the final Power BI visualization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731520" cy="731520"/>
          </a:xfrm>
          <a:prstGeom prst="ellipse">
            <a:avLst/>
          </a:prstGeom>
          <a:solidFill>
            <a:srgbClr val="4E3A6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∑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18745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KPIs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224028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patients, average billing, and medical condition distributions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731520" cy="731520"/>
          </a:xfrm>
          <a:prstGeom prst="ellipse">
            <a:avLst/>
          </a:prstGeom>
          <a:solidFill>
            <a:srgbClr val="4E3A6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291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17320" y="32918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365760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admission trends over time and insurance provider analysis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709160"/>
            <a:ext cx="731520" cy="731520"/>
          </a:xfrm>
          <a:prstGeom prst="ellipse">
            <a:avLst/>
          </a:prstGeom>
          <a:solidFill>
            <a:srgbClr val="4E3A6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709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≣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47091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Slicers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507492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hospital, admission type, and date range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46520" y="1783080"/>
            <a:ext cx="5166360" cy="4434840"/>
          </a:xfrm>
          <a:prstGeom prst="roundRect">
            <a:avLst>
              <a:gd name="adj" fmla="val 2062"/>
            </a:avLst>
          </a:prstGeom>
          <a:solidFill>
            <a:srgbClr val="2A2140"/>
          </a:solidFill>
          <a:ln/>
          <a:effectLst>
            <a:outerShdw blurRad="127000" dist="38100" dir="5400000" algn="bl" rotWithShape="0">
              <a:srgbClr val="3A2E55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201168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9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ANALYTICS OVERVIEW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6560" y="2468880"/>
            <a:ext cx="1325880" cy="868680"/>
          </a:xfrm>
          <a:prstGeom prst="roundRect">
            <a:avLst>
              <a:gd name="adj" fmla="val 6316"/>
            </a:avLst>
          </a:prstGeom>
          <a:solidFill>
            <a:srgbClr val="4E3A6E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253288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55.5K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66560" y="289864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9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366760" y="2468880"/>
            <a:ext cx="1325880" cy="868680"/>
          </a:xfrm>
          <a:prstGeom prst="roundRect">
            <a:avLst>
              <a:gd name="adj" fmla="val 6316"/>
            </a:avLst>
          </a:prstGeom>
          <a:solidFill>
            <a:srgbClr val="4E3A6E"/>
          </a:solidFill>
          <a:ln/>
        </p:spPr>
      </p:sp>
      <p:sp>
        <p:nvSpPr>
          <p:cNvPr id="22" name="Text 20"/>
          <p:cNvSpPr/>
          <p:nvPr/>
        </p:nvSpPr>
        <p:spPr>
          <a:xfrm>
            <a:off x="8366760" y="253288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$18.2K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66760" y="289864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9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Billing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966960" y="2468880"/>
            <a:ext cx="1325880" cy="868680"/>
          </a:xfrm>
          <a:prstGeom prst="roundRect">
            <a:avLst>
              <a:gd name="adj" fmla="val 6316"/>
            </a:avLst>
          </a:prstGeom>
          <a:solidFill>
            <a:srgbClr val="4E3A6E"/>
          </a:solidFill>
          <a:ln/>
        </p:spPr>
      </p:sp>
      <p:sp>
        <p:nvSpPr>
          <p:cNvPr id="25" name="Text 23"/>
          <p:cNvSpPr/>
          <p:nvPr/>
        </p:nvSpPr>
        <p:spPr>
          <a:xfrm>
            <a:off x="9966960" y="253288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966960" y="289864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9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66560" y="356616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B9A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 OVER TIME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766560" y="4389120"/>
            <a:ext cx="536883" cy="457200"/>
          </a:xfrm>
          <a:prstGeom prst="roundRect">
            <a:avLst>
              <a:gd name="adj" fmla="val 6000"/>
            </a:avLst>
          </a:prstGeom>
          <a:solidFill>
            <a:srgbClr val="8A6FB5"/>
          </a:solidFill>
          <a:ln/>
        </p:spPr>
      </p:sp>
      <p:sp>
        <p:nvSpPr>
          <p:cNvPr id="29" name="Shape 27"/>
          <p:cNvSpPr/>
          <p:nvPr/>
        </p:nvSpPr>
        <p:spPr>
          <a:xfrm>
            <a:off x="7431459" y="4023360"/>
            <a:ext cx="536883" cy="822960"/>
          </a:xfrm>
          <a:prstGeom prst="roundRect">
            <a:avLst>
              <a:gd name="adj" fmla="val 5109"/>
            </a:avLst>
          </a:prstGeom>
          <a:solidFill>
            <a:srgbClr val="8A6FB5"/>
          </a:solidFill>
          <a:ln/>
        </p:spPr>
      </p:sp>
      <p:sp>
        <p:nvSpPr>
          <p:cNvPr id="30" name="Shape 28"/>
          <p:cNvSpPr/>
          <p:nvPr/>
        </p:nvSpPr>
        <p:spPr>
          <a:xfrm>
            <a:off x="8096359" y="4251960"/>
            <a:ext cx="536883" cy="594360"/>
          </a:xfrm>
          <a:prstGeom prst="roundRect">
            <a:avLst>
              <a:gd name="adj" fmla="val 5109"/>
            </a:avLst>
          </a:prstGeom>
          <a:solidFill>
            <a:srgbClr val="8A6FB5"/>
          </a:solidFill>
          <a:ln/>
        </p:spPr>
      </p:sp>
      <p:sp>
        <p:nvSpPr>
          <p:cNvPr id="31" name="Shape 29"/>
          <p:cNvSpPr/>
          <p:nvPr/>
        </p:nvSpPr>
        <p:spPr>
          <a:xfrm>
            <a:off x="8761258" y="3840480"/>
            <a:ext cx="536883" cy="1005840"/>
          </a:xfrm>
          <a:prstGeom prst="roundRect">
            <a:avLst>
              <a:gd name="adj" fmla="val 5109"/>
            </a:avLst>
          </a:prstGeom>
          <a:solidFill>
            <a:srgbClr val="8A6FB5"/>
          </a:solidFill>
          <a:ln/>
        </p:spPr>
      </p:sp>
      <p:sp>
        <p:nvSpPr>
          <p:cNvPr id="32" name="Shape 30"/>
          <p:cNvSpPr/>
          <p:nvPr/>
        </p:nvSpPr>
        <p:spPr>
          <a:xfrm>
            <a:off x="9426158" y="4114800"/>
            <a:ext cx="536883" cy="731520"/>
          </a:xfrm>
          <a:prstGeom prst="roundRect">
            <a:avLst>
              <a:gd name="adj" fmla="val 5109"/>
            </a:avLst>
          </a:prstGeom>
          <a:solidFill>
            <a:srgbClr val="8A6FB5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91057" y="3703320"/>
            <a:ext cx="536883" cy="1143000"/>
          </a:xfrm>
          <a:prstGeom prst="roundRect">
            <a:avLst>
              <a:gd name="adj" fmla="val 5109"/>
            </a:avLst>
          </a:prstGeom>
          <a:solidFill>
            <a:srgbClr val="D9CFF0"/>
          </a:solidFill>
          <a:ln/>
        </p:spPr>
      </p:sp>
      <p:sp>
        <p:nvSpPr>
          <p:cNvPr id="34" name="Shape 32"/>
          <p:cNvSpPr/>
          <p:nvPr/>
        </p:nvSpPr>
        <p:spPr>
          <a:xfrm>
            <a:off x="10755957" y="4206240"/>
            <a:ext cx="536883" cy="640080"/>
          </a:xfrm>
          <a:prstGeom prst="roundRect">
            <a:avLst>
              <a:gd name="adj" fmla="val 5109"/>
            </a:avLst>
          </a:prstGeom>
          <a:solidFill>
            <a:srgbClr val="8A6FB5"/>
          </a:solidFill>
          <a:ln/>
        </p:spPr>
      </p:sp>
      <p:sp>
        <p:nvSpPr>
          <p:cNvPr id="35" name="Shape 33"/>
          <p:cNvSpPr/>
          <p:nvPr/>
        </p:nvSpPr>
        <p:spPr>
          <a:xfrm>
            <a:off x="6766560" y="4846320"/>
            <a:ext cx="4526280" cy="0"/>
          </a:xfrm>
          <a:prstGeom prst="line">
            <a:avLst/>
          </a:prstGeom>
          <a:noFill/>
          <a:ln w="12700">
            <a:solidFill>
              <a:srgbClr val="5A4E7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512064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B9A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766560" y="5440680"/>
            <a:ext cx="914400" cy="384048"/>
          </a:xfrm>
          <a:prstGeom prst="roundRect">
            <a:avLst>
              <a:gd name="adj" fmla="val 50000"/>
            </a:avLst>
          </a:prstGeom>
          <a:solidFill>
            <a:srgbClr val="4E3A6E"/>
          </a:solidFill>
          <a:ln w="12700">
            <a:solidFill>
              <a:srgbClr val="8A6F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66560" y="54406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845552" y="5440680"/>
            <a:ext cx="1380744" cy="384048"/>
          </a:xfrm>
          <a:prstGeom prst="roundRect">
            <a:avLst>
              <a:gd name="adj" fmla="val 50000"/>
            </a:avLst>
          </a:prstGeom>
          <a:solidFill>
            <a:srgbClr val="4E3A6E"/>
          </a:solidFill>
          <a:ln w="12700">
            <a:solidFill>
              <a:srgbClr val="8A6FB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45552" y="5440680"/>
            <a:ext cx="1380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Type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390888" y="5440680"/>
            <a:ext cx="1069848" cy="384048"/>
          </a:xfrm>
          <a:prstGeom prst="roundRect">
            <a:avLst>
              <a:gd name="adj" fmla="val 50000"/>
            </a:avLst>
          </a:prstGeom>
          <a:solidFill>
            <a:srgbClr val="4E3A6E"/>
          </a:solidFill>
          <a:ln w="12700">
            <a:solidFill>
              <a:srgbClr val="8A6FB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390888" y="5440680"/>
            <a:ext cx="1069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Big Data &amp; Patient Analytics Pipeline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2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5752" y="-1463040"/>
            <a:ext cx="4754880" cy="4754880"/>
          </a:xfrm>
          <a:prstGeom prst="ellipse">
            <a:avLst/>
          </a:prstGeom>
          <a:solidFill>
            <a:srgbClr val="4E3A6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480560"/>
            <a:ext cx="3657600" cy="3657600"/>
          </a:xfrm>
          <a:prstGeom prst="ellipse">
            <a:avLst/>
          </a:prstGeom>
          <a:solidFill>
            <a:srgbClr val="8A6FB5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9C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Hospital Data into</a:t>
            </a:r>
            <a:endParaRPr lang="en-US" sz="3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Actionable Intelligence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96112" y="3438144"/>
            <a:ext cx="310896" cy="310896"/>
          </a:xfrm>
          <a:prstGeom prst="ellipse">
            <a:avLst/>
          </a:prstGeom>
          <a:solidFill>
            <a:srgbClr val="D9CFF0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34381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342900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7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full, real-world big data pipeline — from Kafka streaming to Power BI dashboards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96112" y="4005072"/>
            <a:ext cx="310896" cy="310896"/>
          </a:xfrm>
          <a:prstGeom prst="ellipse">
            <a:avLst/>
          </a:prstGeom>
          <a:solidFill>
            <a:srgbClr val="D9CFF0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40050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17320" y="399592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7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an industry-standard stack: Docker, Hadoop, Spark, and Hive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96112" y="4572000"/>
            <a:ext cx="310896" cy="310896"/>
          </a:xfrm>
          <a:prstGeom prst="ellipse">
            <a:avLst/>
          </a:prstGeom>
          <a:solidFill>
            <a:srgbClr val="D9CFF0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45720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456285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7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clear operational and medical visibility for hospital decision-makers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5532120"/>
            <a:ext cx="2011680" cy="0"/>
          </a:xfrm>
          <a:prstGeom prst="line">
            <a:avLst/>
          </a:prstGeom>
          <a:noFill/>
          <a:ln w="25400">
            <a:solidFill>
              <a:srgbClr val="8A6F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715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368</Words>
  <Application>Microsoft Office PowerPoint</Application>
  <PresentationFormat>Widescreen</PresentationFormat>
  <Paragraphs>97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nourrail</cp:lastModifiedBy>
  <cp:revision>8</cp:revision>
  <dcterms:created xsi:type="dcterms:W3CDTF">2026-07-29T00:03:22Z</dcterms:created>
  <dcterms:modified xsi:type="dcterms:W3CDTF">2026-07-30T08:48:04Z</dcterms:modified>
</cp:coreProperties>
</file>